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10698480" cy="822960"/>
          </a:xfrm>
          <a:prstGeom prst="rect">
            <a:avLst/>
          </a:prstGeom>
          <a:noFill/>
          <a:ln/>
        </p:spPr>
        <p:txBody>
          <a:bodyPr wrap="square" rtlCol="0" anchor="ctr"/>
          <a:lstStyle/>
          <a:p>
            <a:pPr algn="ctr" indent="0" marL="0">
              <a:buNone/>
            </a:pPr>
            <a:r>
              <a:rPr lang="en-US" sz="3800" b="1" dirty="0">
                <a:solidFill>
                  <a:srgbClr val="000000"/>
                </a:solidFill>
                <a:latin typeface="Calibri" pitchFamily="34" charset="0"/>
                <a:ea typeface="Calibri" pitchFamily="34" charset="-122"/>
                <a:cs typeface="Calibri" pitchFamily="34" charset="-120"/>
              </a:rPr>
              <a:t>Project Design Phase</a:t>
            </a:r>
            <a:endParaRPr lang="en-US" sz="3800" dirty="0"/>
          </a:p>
        </p:txBody>
      </p:sp>
      <p:sp>
        <p:nvSpPr>
          <p:cNvPr id="3" name="Text 1"/>
          <p:cNvSpPr txBox="1"/>
          <p:nvPr/>
        </p:nvSpPr>
        <p:spPr>
          <a:xfrm>
            <a:off x="731520" y="1371600"/>
            <a:ext cx="10698480" cy="548640"/>
          </a:xfrm>
          <a:prstGeom prst="rect">
            <a:avLst/>
          </a:prstGeom>
          <a:noFill/>
          <a:ln/>
        </p:spPr>
        <p:txBody>
          <a:bodyPr wrap="square" rtlCol="0" anchor="ctr"/>
          <a:lstStyle/>
          <a:p>
            <a:pPr algn="ctr" indent="0" marL="0">
              <a:buNone/>
            </a:pPr>
            <a:r>
              <a:rPr lang="en-US" sz="2400" b="1" dirty="0">
                <a:solidFill>
                  <a:srgbClr val="333333"/>
                </a:solidFill>
                <a:latin typeface="Calibri" pitchFamily="34" charset="0"/>
                <a:ea typeface="Calibri" pitchFamily="34" charset="-122"/>
                <a:cs typeface="Calibri" pitchFamily="34" charset="-120"/>
              </a:rPr>
              <a:t>Proposed Solution Template</a:t>
            </a:r>
            <a:endParaRPr lang="en-US" sz="2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097280" y="2560320"/>
          <a:ext cx="9966960" cy="914400"/>
        </p:xfrm>
        <a:graphic>
          <a:graphicData uri="http://schemas.openxmlformats.org/drawingml/2006/table">
            <a:tbl>
              <a:tblPr/>
              <a:tblGrid>
                <a:gridCol w="3108960"/>
                <a:gridCol w="6858000"/>
              </a:tblGrid>
              <a:tr h="640080">
                <a:tc>
                  <a:txBody>
                    <a:bodyPr/>
                    <a:lstStyle/>
                    <a:p>
                      <a:pPr indent="0" marL="0">
                        <a:buNone/>
                      </a:pPr>
                      <a:r>
                        <a:rPr lang="en-US" sz="1800" b="1" dirty="0">
                          <a:solidFill>
                            <a:srgbClr val="111111"/>
                          </a:solidFill>
                          <a:latin typeface="Calibri" pitchFamily="34" charset="0"/>
                          <a:ea typeface="Calibri" pitchFamily="34" charset="-122"/>
                          <a:cs typeface="Calibri" pitchFamily="34" charset="-120"/>
                        </a:rPr>
                        <a:t>Date</a:t>
                      </a:r>
                      <a:endParaRPr lang="en-US" sz="1800" dirty="0">
                        <a:latin typeface="Calibri" charset="0"/>
                        <a:ea typeface="Calibri" charset="0"/>
                        <a:cs typeface="Calibri" charset="0"/>
                      </a:endParaRPr>
                    </a:p>
                  </a:txBody>
                  <a:tcPr marL="91440" marR="91440" marT="45720" marB="45720" anchor="ctr">
                    <a:lnL w="12700" cap="flat" cmpd="sng" algn="ctr">
                      <a:solidFill>
                        <a:srgbClr val="9AA3B5"/>
                      </a:solidFill>
                      <a:prstDash val="solid"/>
                      <a:round/>
                      <a:headEnd type="none" w="med" len="med"/>
                      <a:tailEnd type="none" w="med" len="med"/>
                    </a:lnL>
                    <a:lnR w="12700" cap="flat" cmpd="sng" algn="ctr">
                      <a:solidFill>
                        <a:srgbClr val="9AA3B5"/>
                      </a:solidFill>
                      <a:prstDash val="solid"/>
                      <a:round/>
                      <a:headEnd type="none" w="med" len="med"/>
                      <a:tailEnd type="none" w="med" len="med"/>
                    </a:lnR>
                    <a:lnT w="12700" cap="flat" cmpd="sng" algn="ctr">
                      <a:solidFill>
                        <a:srgbClr val="9AA3B5"/>
                      </a:solidFill>
                      <a:prstDash val="solid"/>
                      <a:round/>
                      <a:headEnd type="none" w="med" len="med"/>
                      <a:tailEnd type="none" w="med" len="med"/>
                    </a:lnT>
                    <a:lnB w="12700" cap="flat" cmpd="sng" algn="ctr">
                      <a:solidFill>
                        <a:srgbClr val="9AA3B5"/>
                      </a:solidFill>
                      <a:prstDash val="solid"/>
                      <a:round/>
                      <a:headEnd type="none" w="med" len="med"/>
                      <a:tailEnd type="none" w="med" len="med"/>
                    </a:lnB>
                    <a:solidFill>
                      <a:srgbClr val="E8ECF4"/>
                    </a:solidFill>
                  </a:tcPr>
                </a:tc>
                <a:tc>
                  <a:txBody>
                    <a:bodyPr/>
                    <a:lstStyle/>
                    <a:p>
                      <a:pPr indent="0" marL="0">
                        <a:buNone/>
                      </a:pPr>
                      <a:r>
                        <a:rPr lang="en-US" sz="1800" dirty="0">
                          <a:solidFill>
                            <a:srgbClr val="111111"/>
                          </a:solidFill>
                          <a:latin typeface="Calibri" pitchFamily="34" charset="0"/>
                          <a:ea typeface="Calibri" pitchFamily="34" charset="-122"/>
                          <a:cs typeface="Calibri" pitchFamily="34" charset="-120"/>
                        </a:rPr>
                        <a:t>23 October 2026</a:t>
                      </a:r>
                      <a:endParaRPr lang="en-US" sz="1800" dirty="0">
                        <a:latin typeface="Calibri" charset="0"/>
                        <a:ea typeface="Calibri" charset="0"/>
                        <a:cs typeface="Calibri" charset="0"/>
                      </a:endParaRPr>
                    </a:p>
                  </a:txBody>
                  <a:tcPr marL="91440" marR="91440" marT="45720" marB="45720" anchor="ctr">
                    <a:lnL w="12700" cap="flat" cmpd="sng" algn="ctr">
                      <a:solidFill>
                        <a:srgbClr val="9AA3B5"/>
                      </a:solidFill>
                      <a:prstDash val="solid"/>
                      <a:round/>
                      <a:headEnd type="none" w="med" len="med"/>
                      <a:tailEnd type="none" w="med" len="med"/>
                    </a:lnL>
                    <a:lnR w="12700" cap="flat" cmpd="sng" algn="ctr">
                      <a:solidFill>
                        <a:srgbClr val="9AA3B5"/>
                      </a:solidFill>
                      <a:prstDash val="solid"/>
                      <a:round/>
                      <a:headEnd type="none" w="med" len="med"/>
                      <a:tailEnd type="none" w="med" len="med"/>
                    </a:lnR>
                    <a:lnT w="12700" cap="flat" cmpd="sng" algn="ctr">
                      <a:solidFill>
                        <a:srgbClr val="9AA3B5"/>
                      </a:solidFill>
                      <a:prstDash val="solid"/>
                      <a:round/>
                      <a:headEnd type="none" w="med" len="med"/>
                      <a:tailEnd type="none" w="med" len="med"/>
                    </a:lnT>
                    <a:lnB w="12700" cap="flat" cmpd="sng" algn="ctr">
                      <a:solidFill>
                        <a:srgbClr val="9AA3B5"/>
                      </a:solidFill>
                      <a:prstDash val="solid"/>
                      <a:round/>
                      <a:headEnd type="none" w="med" len="med"/>
                      <a:tailEnd type="none" w="med" len="med"/>
                    </a:lnB>
                  </a:tcPr>
                </a:tc>
              </a:tr>
              <a:tr h="640080">
                <a:tc>
                  <a:txBody>
                    <a:bodyPr/>
                    <a:lstStyle/>
                    <a:p>
                      <a:pPr indent="0" marL="0">
                        <a:buNone/>
                      </a:pPr>
                      <a:r>
                        <a:rPr lang="en-US" sz="1800" b="1" dirty="0">
                          <a:solidFill>
                            <a:srgbClr val="111111"/>
                          </a:solidFill>
                          <a:latin typeface="Calibri" pitchFamily="34" charset="0"/>
                          <a:ea typeface="Calibri" pitchFamily="34" charset="-122"/>
                          <a:cs typeface="Calibri" pitchFamily="34" charset="-120"/>
                        </a:rPr>
                        <a:t>Team ID</a:t>
                      </a:r>
                      <a:endParaRPr lang="en-US" sz="1800" dirty="0">
                        <a:latin typeface="Calibri" charset="0"/>
                        <a:ea typeface="Calibri" charset="0"/>
                        <a:cs typeface="Calibri" charset="0"/>
                      </a:endParaRPr>
                    </a:p>
                  </a:txBody>
                  <a:tcPr marL="91440" marR="91440" marT="45720" marB="45720" anchor="ctr">
                    <a:lnL w="12700" cap="flat" cmpd="sng" algn="ctr">
                      <a:solidFill>
                        <a:srgbClr val="9AA3B5"/>
                      </a:solidFill>
                      <a:prstDash val="solid"/>
                      <a:round/>
                      <a:headEnd type="none" w="med" len="med"/>
                      <a:tailEnd type="none" w="med" len="med"/>
                    </a:lnL>
                    <a:lnR w="12700" cap="flat" cmpd="sng" algn="ctr">
                      <a:solidFill>
                        <a:srgbClr val="9AA3B5"/>
                      </a:solidFill>
                      <a:prstDash val="solid"/>
                      <a:round/>
                      <a:headEnd type="none" w="med" len="med"/>
                      <a:tailEnd type="none" w="med" len="med"/>
                    </a:lnR>
                    <a:lnT w="12700" cap="flat" cmpd="sng" algn="ctr">
                      <a:solidFill>
                        <a:srgbClr val="9AA3B5"/>
                      </a:solidFill>
                      <a:prstDash val="solid"/>
                      <a:round/>
                      <a:headEnd type="none" w="med" len="med"/>
                      <a:tailEnd type="none" w="med" len="med"/>
                    </a:lnT>
                    <a:lnB w="12700" cap="flat" cmpd="sng" algn="ctr">
                      <a:solidFill>
                        <a:srgbClr val="9AA3B5"/>
                      </a:solidFill>
                      <a:prstDash val="solid"/>
                      <a:round/>
                      <a:headEnd type="none" w="med" len="med"/>
                      <a:tailEnd type="none" w="med" len="med"/>
                    </a:lnB>
                    <a:solidFill>
                      <a:srgbClr val="E8ECF4"/>
                    </a:solidFill>
                  </a:tcPr>
                </a:tc>
                <a:tc>
                  <a:txBody>
                    <a:bodyPr/>
                    <a:lstStyle/>
                    <a:p>
                      <a:pPr indent="0" marL="0">
                        <a:buNone/>
                      </a:pPr>
                      <a:r>
                        <a:rPr lang="en-US" sz="1800" dirty="0">
                          <a:solidFill>
                            <a:srgbClr val="111111"/>
                          </a:solidFill>
                          <a:latin typeface="Calibri" pitchFamily="34" charset="0"/>
                          <a:ea typeface="Calibri" pitchFamily="34" charset="-122"/>
                          <a:cs typeface="Calibri" pitchFamily="34" charset="-120"/>
                        </a:rPr>
                        <a:t>SWTID-2026-8980</a:t>
                      </a:r>
                      <a:endParaRPr lang="en-US" sz="1800" dirty="0">
                        <a:latin typeface="Calibri" charset="0"/>
                        <a:ea typeface="Calibri" charset="0"/>
                        <a:cs typeface="Calibri" charset="0"/>
                      </a:endParaRPr>
                    </a:p>
                  </a:txBody>
                  <a:tcPr marL="91440" marR="91440" marT="45720" marB="45720" anchor="ctr">
                    <a:lnL w="12700" cap="flat" cmpd="sng" algn="ctr">
                      <a:solidFill>
                        <a:srgbClr val="9AA3B5"/>
                      </a:solidFill>
                      <a:prstDash val="solid"/>
                      <a:round/>
                      <a:headEnd type="none" w="med" len="med"/>
                      <a:tailEnd type="none" w="med" len="med"/>
                    </a:lnL>
                    <a:lnR w="12700" cap="flat" cmpd="sng" algn="ctr">
                      <a:solidFill>
                        <a:srgbClr val="9AA3B5"/>
                      </a:solidFill>
                      <a:prstDash val="solid"/>
                      <a:round/>
                      <a:headEnd type="none" w="med" len="med"/>
                      <a:tailEnd type="none" w="med" len="med"/>
                    </a:lnR>
                    <a:lnT w="12700" cap="flat" cmpd="sng" algn="ctr">
                      <a:solidFill>
                        <a:srgbClr val="9AA3B5"/>
                      </a:solidFill>
                      <a:prstDash val="solid"/>
                      <a:round/>
                      <a:headEnd type="none" w="med" len="med"/>
                      <a:tailEnd type="none" w="med" len="med"/>
                    </a:lnT>
                    <a:lnB w="12700" cap="flat" cmpd="sng" algn="ctr">
                      <a:solidFill>
                        <a:srgbClr val="9AA3B5"/>
                      </a:solidFill>
                      <a:prstDash val="solid"/>
                      <a:round/>
                      <a:headEnd type="none" w="med" len="med"/>
                      <a:tailEnd type="none" w="med" len="med"/>
                    </a:lnB>
                  </a:tcPr>
                </a:tc>
              </a:tr>
              <a:tr h="640080">
                <a:tc>
                  <a:txBody>
                    <a:bodyPr/>
                    <a:lstStyle/>
                    <a:p>
                      <a:pPr indent="0" marL="0">
                        <a:buNone/>
                      </a:pPr>
                      <a:r>
                        <a:rPr lang="en-US" sz="1800" b="1" dirty="0">
                          <a:solidFill>
                            <a:srgbClr val="111111"/>
                          </a:solidFill>
                          <a:latin typeface="Calibri" pitchFamily="34" charset="0"/>
                          <a:ea typeface="Calibri" pitchFamily="34" charset="-122"/>
                          <a:cs typeface="Calibri" pitchFamily="34" charset="-120"/>
                        </a:rPr>
                        <a:t>Project Name</a:t>
                      </a:r>
                      <a:endParaRPr lang="en-US" sz="1800" dirty="0">
                        <a:latin typeface="Calibri" charset="0"/>
                        <a:ea typeface="Calibri" charset="0"/>
                        <a:cs typeface="Calibri" charset="0"/>
                      </a:endParaRPr>
                    </a:p>
                  </a:txBody>
                  <a:tcPr marL="91440" marR="91440" marT="45720" marB="45720" anchor="ctr">
                    <a:lnL w="12700" cap="flat" cmpd="sng" algn="ctr">
                      <a:solidFill>
                        <a:srgbClr val="9AA3B5"/>
                      </a:solidFill>
                      <a:prstDash val="solid"/>
                      <a:round/>
                      <a:headEnd type="none" w="med" len="med"/>
                      <a:tailEnd type="none" w="med" len="med"/>
                    </a:lnL>
                    <a:lnR w="12700" cap="flat" cmpd="sng" algn="ctr">
                      <a:solidFill>
                        <a:srgbClr val="9AA3B5"/>
                      </a:solidFill>
                      <a:prstDash val="solid"/>
                      <a:round/>
                      <a:headEnd type="none" w="med" len="med"/>
                      <a:tailEnd type="none" w="med" len="med"/>
                    </a:lnR>
                    <a:lnT w="12700" cap="flat" cmpd="sng" algn="ctr">
                      <a:solidFill>
                        <a:srgbClr val="9AA3B5"/>
                      </a:solidFill>
                      <a:prstDash val="solid"/>
                      <a:round/>
                      <a:headEnd type="none" w="med" len="med"/>
                      <a:tailEnd type="none" w="med" len="med"/>
                    </a:lnT>
                    <a:lnB w="12700" cap="flat" cmpd="sng" algn="ctr">
                      <a:solidFill>
                        <a:srgbClr val="9AA3B5"/>
                      </a:solidFill>
                      <a:prstDash val="solid"/>
                      <a:round/>
                      <a:headEnd type="none" w="med" len="med"/>
                      <a:tailEnd type="none" w="med" len="med"/>
                    </a:lnB>
                    <a:solidFill>
                      <a:srgbClr val="E8ECF4"/>
                    </a:solidFill>
                  </a:tcPr>
                </a:tc>
                <a:tc>
                  <a:txBody>
                    <a:bodyPr/>
                    <a:lstStyle/>
                    <a:p>
                      <a:pPr indent="0" marL="0">
                        <a:buNone/>
                      </a:pPr>
                      <a:r>
                        <a:rPr lang="en-US" sz="1800" dirty="0">
                          <a:solidFill>
                            <a:srgbClr val="111111"/>
                          </a:solidFill>
                          <a:latin typeface="Calibri" pitchFamily="34" charset="0"/>
                          <a:ea typeface="Calibri" pitchFamily="34" charset="-122"/>
                          <a:cs typeface="Calibri" pitchFamily="34" charset="-120"/>
                        </a:rPr>
                        <a:t>Auto Ticket Classification using Flow Designer</a:t>
                      </a:r>
                      <a:endParaRPr lang="en-US" sz="1800" dirty="0">
                        <a:latin typeface="Calibri" charset="0"/>
                        <a:ea typeface="Calibri" charset="0"/>
                        <a:cs typeface="Calibri" charset="0"/>
                      </a:endParaRPr>
                    </a:p>
                  </a:txBody>
                  <a:tcPr marL="91440" marR="91440" marT="45720" marB="45720" anchor="ctr">
                    <a:lnL w="12700" cap="flat" cmpd="sng" algn="ctr">
                      <a:solidFill>
                        <a:srgbClr val="9AA3B5"/>
                      </a:solidFill>
                      <a:prstDash val="solid"/>
                      <a:round/>
                      <a:headEnd type="none" w="med" len="med"/>
                      <a:tailEnd type="none" w="med" len="med"/>
                    </a:lnL>
                    <a:lnR w="12700" cap="flat" cmpd="sng" algn="ctr">
                      <a:solidFill>
                        <a:srgbClr val="9AA3B5"/>
                      </a:solidFill>
                      <a:prstDash val="solid"/>
                      <a:round/>
                      <a:headEnd type="none" w="med" len="med"/>
                      <a:tailEnd type="none" w="med" len="med"/>
                    </a:lnR>
                    <a:lnT w="12700" cap="flat" cmpd="sng" algn="ctr">
                      <a:solidFill>
                        <a:srgbClr val="9AA3B5"/>
                      </a:solidFill>
                      <a:prstDash val="solid"/>
                      <a:round/>
                      <a:headEnd type="none" w="med" len="med"/>
                      <a:tailEnd type="none" w="med" len="med"/>
                    </a:lnT>
                    <a:lnB w="12700" cap="flat" cmpd="sng" algn="ctr">
                      <a:solidFill>
                        <a:srgbClr val="9AA3B5"/>
                      </a:solidFill>
                      <a:prstDash val="solid"/>
                      <a:round/>
                      <a:headEnd type="none" w="med" len="med"/>
                      <a:tailEnd type="none" w="med" len="med"/>
                    </a:lnB>
                  </a:tcPr>
                </a:tc>
              </a:tr>
              <a:tr h="640080">
                <a:tc>
                  <a:txBody>
                    <a:bodyPr/>
                    <a:lstStyle/>
                    <a:p>
                      <a:pPr indent="0" marL="0">
                        <a:buNone/>
                      </a:pPr>
                      <a:r>
                        <a:rPr lang="en-US" sz="1800" b="1" dirty="0">
                          <a:solidFill>
                            <a:srgbClr val="111111"/>
                          </a:solidFill>
                          <a:latin typeface="Calibri" pitchFamily="34" charset="0"/>
                          <a:ea typeface="Calibri" pitchFamily="34" charset="-122"/>
                          <a:cs typeface="Calibri" pitchFamily="34" charset="-120"/>
                        </a:rPr>
                        <a:t>Maximum Marks</a:t>
                      </a:r>
                      <a:endParaRPr lang="en-US" sz="1800" dirty="0">
                        <a:latin typeface="Calibri" charset="0"/>
                        <a:ea typeface="Calibri" charset="0"/>
                        <a:cs typeface="Calibri" charset="0"/>
                      </a:endParaRPr>
                    </a:p>
                  </a:txBody>
                  <a:tcPr marL="91440" marR="91440" marT="45720" marB="45720" anchor="ctr">
                    <a:lnL w="12700" cap="flat" cmpd="sng" algn="ctr">
                      <a:solidFill>
                        <a:srgbClr val="9AA3B5"/>
                      </a:solidFill>
                      <a:prstDash val="solid"/>
                      <a:round/>
                      <a:headEnd type="none" w="med" len="med"/>
                      <a:tailEnd type="none" w="med" len="med"/>
                    </a:lnL>
                    <a:lnR w="12700" cap="flat" cmpd="sng" algn="ctr">
                      <a:solidFill>
                        <a:srgbClr val="9AA3B5"/>
                      </a:solidFill>
                      <a:prstDash val="solid"/>
                      <a:round/>
                      <a:headEnd type="none" w="med" len="med"/>
                      <a:tailEnd type="none" w="med" len="med"/>
                    </a:lnR>
                    <a:lnT w="12700" cap="flat" cmpd="sng" algn="ctr">
                      <a:solidFill>
                        <a:srgbClr val="9AA3B5"/>
                      </a:solidFill>
                      <a:prstDash val="solid"/>
                      <a:round/>
                      <a:headEnd type="none" w="med" len="med"/>
                      <a:tailEnd type="none" w="med" len="med"/>
                    </a:lnT>
                    <a:lnB w="12700" cap="flat" cmpd="sng" algn="ctr">
                      <a:solidFill>
                        <a:srgbClr val="9AA3B5"/>
                      </a:solidFill>
                      <a:prstDash val="solid"/>
                      <a:round/>
                      <a:headEnd type="none" w="med" len="med"/>
                      <a:tailEnd type="none" w="med" len="med"/>
                    </a:lnB>
                    <a:solidFill>
                      <a:srgbClr val="E8ECF4"/>
                    </a:solidFill>
                  </a:tcPr>
                </a:tc>
                <a:tc>
                  <a:txBody>
                    <a:bodyPr/>
                    <a:lstStyle/>
                    <a:p>
                      <a:pPr indent="0" marL="0">
                        <a:buNone/>
                      </a:pPr>
                      <a:r>
                        <a:rPr lang="en-US" sz="1800" dirty="0">
                          <a:solidFill>
                            <a:srgbClr val="111111"/>
                          </a:solidFill>
                          <a:latin typeface="Calibri" pitchFamily="34" charset="0"/>
                          <a:ea typeface="Calibri" pitchFamily="34" charset="-122"/>
                          <a:cs typeface="Calibri" pitchFamily="34" charset="-120"/>
                        </a:rPr>
                        <a:t>2 Marks</a:t>
                      </a:r>
                      <a:endParaRPr lang="en-US" sz="1800" dirty="0">
                        <a:latin typeface="Calibri" charset="0"/>
                        <a:ea typeface="Calibri" charset="0"/>
                        <a:cs typeface="Calibri" charset="0"/>
                      </a:endParaRPr>
                    </a:p>
                  </a:txBody>
                  <a:tcPr marL="91440" marR="91440" marT="45720" marB="45720" anchor="ctr">
                    <a:lnL w="12700" cap="flat" cmpd="sng" algn="ctr">
                      <a:solidFill>
                        <a:srgbClr val="9AA3B5"/>
                      </a:solidFill>
                      <a:prstDash val="solid"/>
                      <a:round/>
                      <a:headEnd type="none" w="med" len="med"/>
                      <a:tailEnd type="none" w="med" len="med"/>
                    </a:lnL>
                    <a:lnR w="12700" cap="flat" cmpd="sng" algn="ctr">
                      <a:solidFill>
                        <a:srgbClr val="9AA3B5"/>
                      </a:solidFill>
                      <a:prstDash val="solid"/>
                      <a:round/>
                      <a:headEnd type="none" w="med" len="med"/>
                      <a:tailEnd type="none" w="med" len="med"/>
                    </a:lnR>
                    <a:lnT w="12700" cap="flat" cmpd="sng" algn="ctr">
                      <a:solidFill>
                        <a:srgbClr val="9AA3B5"/>
                      </a:solidFill>
                      <a:prstDash val="solid"/>
                      <a:round/>
                      <a:headEnd type="none" w="med" len="med"/>
                      <a:tailEnd type="none" w="med" len="med"/>
                    </a:lnT>
                    <a:lnB w="12700" cap="flat" cmpd="sng" algn="ctr">
                      <a:solidFill>
                        <a:srgbClr val="9AA3B5"/>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82880"/>
            <a:ext cx="10972800" cy="457200"/>
          </a:xfrm>
          <a:prstGeom prst="rect">
            <a:avLst/>
          </a:prstGeom>
          <a:noFill/>
          <a:ln/>
        </p:spPr>
        <p:txBody>
          <a:bodyPr wrap="square" lIns="0" tIns="0" rIns="0" bIns="0"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Proposed Solution Template</a:t>
            </a:r>
            <a:endParaRPr lang="en-US" sz="2400" dirty="0"/>
          </a:p>
        </p:txBody>
      </p:sp>
      <p:sp>
        <p:nvSpPr>
          <p:cNvPr id="3" name="Text 1"/>
          <p:cNvSpPr txBox="1"/>
          <p:nvPr/>
        </p:nvSpPr>
        <p:spPr>
          <a:xfrm>
            <a:off x="457200" y="658368"/>
            <a:ext cx="11247120" cy="27432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The project team has filled in the following information in the proposed solution template.</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47120" cy="914400"/>
        </p:xfrm>
        <a:graphic>
          <a:graphicData uri="http://schemas.openxmlformats.org/drawingml/2006/table">
            <a:tbl>
              <a:tblPr/>
              <a:tblGrid>
                <a:gridCol w="731520"/>
                <a:gridCol w="2651760"/>
                <a:gridCol w="7863840"/>
              </a:tblGrid>
              <a:tr h="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S.No.</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solidFill>
                      <a:srgbClr val="3B4A6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solidFill>
                      <a:srgbClr val="3B4A6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solidFill>
                      <a:srgbClr val="3B4A6B"/>
                    </a:solidFill>
                  </a:tcPr>
                </a:tc>
              </a:tr>
              <a:tr h="0">
                <a:tc>
                  <a:txBody>
                    <a:bodyPr/>
                    <a:lstStyle/>
                    <a:p>
                      <a:pPr algn="ctr" indent="0" marL="0">
                        <a:buNone/>
                      </a:pPr>
                      <a:r>
                        <a:rPr lang="en-US" sz="1150" dirty="0">
                          <a:solidFill>
                            <a:srgbClr val="11111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Problem Statement (Problem to be solved)</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The school IT helpdesk receives many incident requests daily from students and teachers, such as Wi-Fi issues, projector failures, password problems and slow computers. IT staff manually review each ticket, select its category and subcategory, and inform the caller. This process is time-consuming, error-prone and not scalable as the number of requests grows.</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r>
              <a:tr h="0">
                <a:tc>
                  <a:txBody>
                    <a:bodyPr/>
                    <a:lstStyle/>
                    <a:p>
                      <a:pPr algn="ctr" indent="0" marL="0">
                        <a:buNone/>
                      </a:pPr>
                      <a:r>
                        <a:rPr lang="en-US" sz="1150" dirty="0">
                          <a:solidFill>
                            <a:srgbClr val="111111"/>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Idea / Solution description</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A no-code automation built in ServiceNow Flow Designer. The user enters only the Caller and Short Description in the custom Incident Workflow table. On record creation (Category is empty), the flow checks the Short Description for keywords and sets Category and Subcategory (Wi-Fi/Network → Network, Wi-Fi; Projector → Hardware, Projector; Forgot password → Access, Forgot Password; Slow computer → Performance, Slow Computer). It then emails a confirmation to the caller. Subcategory choices depend on the selected Category.</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r>
              <a:tr h="0">
                <a:tc>
                  <a:txBody>
                    <a:bodyPr/>
                    <a:lstStyle/>
                    <a:p>
                      <a:pPr algn="ctr" indent="0" marL="0">
                        <a:buNone/>
                      </a:pPr>
                      <a:r>
                        <a:rPr lang="en-US" sz="1150" dirty="0">
                          <a:solidFill>
                            <a:srgbClr val="11111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Novelty / Uniqueness</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Classification happens automatically at ticket creation, with no manual review, scripting or machine learning. The rules are visible as simple flow conditions, so they can be changed or extended by editing the flow. Dependent choice fields keep Category and Subcategory consistent.</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r>
              <a:tr h="0">
                <a:tc>
                  <a:txBody>
                    <a:bodyPr/>
                    <a:lstStyle/>
                    <a:p>
                      <a:pPr algn="ctr"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Social Impact / Customer Satisfaction</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Students and teachers receive an instant confirmation email and more consistent ticket handling. IT staff spend less time on routine sorting and more on resolving issues, which supports a more reliable learning environment.</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r>
              <a:tr h="0">
                <a:tc>
                  <a:txBody>
                    <a:bodyPr/>
                    <a:lstStyle/>
                    <a:p>
                      <a:pPr algn="ctr" indent="0" marL="0">
                        <a:buNone/>
                      </a:pPr>
                      <a:r>
                        <a:rPr lang="en-US" sz="1150" dirty="0">
                          <a:solidFill>
                            <a:srgbClr val="111111"/>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Business Model (Revenue Model)</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The solution is an internal tool for a school or college IT helpdesk and is not designed to generate direct revenue. Its value is the saving of IT staff effort and faster ticket routing. It runs on the institution’s existing ServiceNow instance.</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r>
              <a:tr h="0">
                <a:tc>
                  <a:txBody>
                    <a:bodyPr/>
                    <a:lstStyle/>
                    <a:p>
                      <a:pPr algn="ctr" indent="0" marL="0">
                        <a:buNone/>
                      </a:pPr>
                      <a:r>
                        <a:rPr lang="en-US" sz="1150" dirty="0">
                          <a:solidFill>
                            <a:srgbClr val="111111"/>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Scalability of the Solution</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Built with Flow Designer and a structured table, the solution handles growing ticket volumes without extra manual effort. New categories, subcategories and keyword conditions can be added without code. It suits small to medium environments such as educational institutions and can be extended with assignment automation, SLA tracking or predictive intelligence.</a:t>
                      </a:r>
                      <a:endParaRPr lang="en-US" sz="1150" dirty="0">
                        <a:latin typeface="Calibri" charset="0"/>
                        <a:ea typeface="Calibri" charset="0"/>
                        <a:cs typeface="Calibri" charset="0"/>
                      </a:endParaRPr>
                    </a:p>
                  </a:txBody>
                  <a:tcPr marL="54864" marR="54864" marT="54864" marB="54864" anchor="ctr">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2026-10-23T16:18:28Z</dcterms:created>
  <dcterms:modified xsi:type="dcterms:W3CDTF">2026-10-23T16:18:28Z</dcterms:modified>
</cp:coreProperties>
</file>